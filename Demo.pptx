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4"/>
  </p:sldMasterIdLst>
  <p:notesMasterIdLst>
    <p:notesMasterId r:id="rId17"/>
  </p:notesMasterIdLst>
  <p:handoutMasterIdLst>
    <p:handoutMasterId r:id="rId18"/>
  </p:handoutMasterIdLst>
  <p:sldIdLst>
    <p:sldId id="256" r:id="rId5"/>
    <p:sldId id="264" r:id="rId6"/>
    <p:sldId id="263" r:id="rId7"/>
    <p:sldId id="262" r:id="rId8"/>
    <p:sldId id="267" r:id="rId9"/>
    <p:sldId id="268" r:id="rId10"/>
    <p:sldId id="269" r:id="rId11"/>
    <p:sldId id="270" r:id="rId12"/>
    <p:sldId id="272" r:id="rId13"/>
    <p:sldId id="271" r:id="rId14"/>
    <p:sldId id="274" r:id="rId15"/>
    <p:sldId id="275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11" autoAdjust="0"/>
    <p:restoredTop sz="94648" autoAdjust="0"/>
  </p:normalViewPr>
  <p:slideViewPr>
    <p:cSldViewPr snapToGrid="0">
      <p:cViewPr varScale="1">
        <p:scale>
          <a:sx n="151" d="100"/>
          <a:sy n="151" d="100"/>
        </p:scale>
        <p:origin x="396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869721-F543-4A6C-BF9D-65D7CC540427}" type="datetimeFigureOut">
              <a:rPr lang="en-US" smtClean="0"/>
              <a:t>17-Dec-25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90168E-626C-4E60-93C0-A00D2560946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32326A-4C88-4AFB-AA5B-5919D81DFF5B}" type="datetimeFigureOut">
              <a:rPr lang="en-US" smtClean="0"/>
              <a:t>17-Dec-25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B3AB32-59DF-41F1-9618-EDFBF50496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0470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17-Dec-25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17-Dec-25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17-Dec-25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17-Dec-25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17-Dec-25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17-Dec-25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17-Dec-25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17-Dec-25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17-Dec-25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17-Dec-25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17-Dec-25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17-Dec-25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Digital Connections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4572000"/>
            <a:ext cx="10993549" cy="895244"/>
          </a:xfrm>
        </p:spPr>
        <p:txBody>
          <a:bodyPr>
            <a:noAutofit/>
          </a:bodyPr>
          <a:lstStyle/>
          <a:p>
            <a:r>
              <a:rPr lang="en-US" sz="6000" dirty="0">
                <a:solidFill>
                  <a:schemeClr val="bg1"/>
                </a:solidFill>
              </a:rPr>
              <a:t>Scientific Papers </a:t>
            </a:r>
            <a:r>
              <a:rPr lang="en-US" sz="6000" dirty="0" err="1">
                <a:solidFill>
                  <a:schemeClr val="bg1"/>
                </a:solidFill>
              </a:rPr>
              <a:t>Reranker</a:t>
            </a:r>
            <a:endParaRPr lang="en-US" sz="6000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5467246"/>
            <a:ext cx="10993546" cy="48482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7CEBFF"/>
                </a:solidFill>
              </a:rPr>
              <a:t>Andrei – R</a:t>
            </a:r>
            <a:r>
              <a:rPr lang="ro-RO" dirty="0">
                <a:solidFill>
                  <a:srgbClr val="7CEBFF"/>
                </a:solidFill>
              </a:rPr>
              <a:t>ăzvan, JOLDEA</a:t>
            </a:r>
            <a:endParaRPr lang="en-US" dirty="0">
              <a:solidFill>
                <a:srgbClr val="7CEB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4358B-2383-3F70-CB2B-4C8164B1A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39CC81-0E85-3B68-B6F0-31DD8572E1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en-US" dirty="0"/>
              <a:t>Create a </a:t>
            </a:r>
            <a:r>
              <a:rPr lang="en-US" b="1" dirty="0" err="1"/>
              <a:t>Reranker</a:t>
            </a:r>
            <a:r>
              <a:rPr lang="en-US" dirty="0"/>
              <a:t> capable enough to be used for writing academic papers.</a:t>
            </a:r>
          </a:p>
          <a:p>
            <a:pPr lvl="1"/>
            <a:r>
              <a:rPr lang="en-US" dirty="0"/>
              <a:t>Take a query as input (up to a few sentences / small paragraph).</a:t>
            </a:r>
          </a:p>
          <a:p>
            <a:pPr lvl="1"/>
            <a:r>
              <a:rPr lang="en-US" dirty="0"/>
              <a:t>Have a candidate pool of K scientific papers (e.g. K = 100).</a:t>
            </a:r>
          </a:p>
          <a:p>
            <a:pPr lvl="1"/>
            <a:r>
              <a:rPr lang="en-US" dirty="0" err="1"/>
              <a:t>Rerank</a:t>
            </a:r>
            <a:r>
              <a:rPr lang="en-US" dirty="0"/>
              <a:t> the papers ascendingly based on their relevance for the query.</a:t>
            </a:r>
          </a:p>
          <a:p>
            <a:r>
              <a:rPr lang="en-US" dirty="0"/>
              <a:t>Pair the </a:t>
            </a:r>
            <a:r>
              <a:rPr lang="en-US" dirty="0" err="1"/>
              <a:t>Reranker</a:t>
            </a:r>
            <a:r>
              <a:rPr lang="en-US" dirty="0"/>
              <a:t> with the best performing retriever to increase results.</a:t>
            </a:r>
          </a:p>
        </p:txBody>
      </p:sp>
    </p:spTree>
    <p:extLst>
      <p:ext uri="{BB962C8B-B14F-4D97-AF65-F5344CB8AC3E}">
        <p14:creationId xmlns:p14="http://schemas.microsoft.com/office/powerpoint/2010/main" val="14919118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46CF9-1EB2-7AEC-2FD3-4A01D387F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E6297-1F91-7103-094B-444CD588EA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en-US" dirty="0"/>
              <a:t>Benchmark containing 597 realistic literature search queries about recent ML and NLP papers.</a:t>
            </a:r>
          </a:p>
          <a:p>
            <a:r>
              <a:rPr lang="en-US" dirty="0"/>
              <a:t>Queries can have 1-5 target papers (vast majority have 1).</a:t>
            </a:r>
          </a:p>
          <a:p>
            <a:r>
              <a:rPr lang="en-US" dirty="0"/>
              <a:t>Forked the official repo and made changes to the existing framework:</a:t>
            </a:r>
          </a:p>
          <a:p>
            <a:pPr lvl="1"/>
            <a:r>
              <a:rPr lang="en-US" dirty="0"/>
              <a:t>Added support for inference using local LLMs.</a:t>
            </a:r>
          </a:p>
          <a:p>
            <a:pPr lvl="1"/>
            <a:r>
              <a:rPr lang="en-US" dirty="0"/>
              <a:t>Added support for additional retrievers (e.g. </a:t>
            </a:r>
            <a:r>
              <a:rPr lang="en-US" dirty="0" err="1"/>
              <a:t>MiniLM</a:t>
            </a:r>
            <a:r>
              <a:rPr lang="en-US" dirty="0"/>
              <a:t>, Qwen3).</a:t>
            </a:r>
          </a:p>
          <a:p>
            <a:pPr lvl="1"/>
            <a:r>
              <a:rPr lang="en-US" dirty="0"/>
              <a:t>Adjusted reranking pipeline for better answer extraction, additional prompts etc.</a:t>
            </a:r>
          </a:p>
          <a:p>
            <a:pPr lvl="1"/>
            <a:r>
              <a:rPr lang="en-US" dirty="0"/>
              <a:t>Added evaluation script to compute metrics.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0072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17278-D78D-64B9-BC87-BEF3E939B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creation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F6B4F6-D8F5-67BE-65A4-955A193CC0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en-US" b="1" dirty="0"/>
              <a:t>DORIS-MAE</a:t>
            </a:r>
            <a:r>
              <a:rPr lang="en-US" dirty="0"/>
              <a:t> (Scientific Document Retrieval using Multi-level Aspect-based Queries):</a:t>
            </a:r>
          </a:p>
          <a:p>
            <a:pPr lvl="1"/>
            <a:r>
              <a:rPr lang="en-US" dirty="0"/>
              <a:t>Corpus contains 363,133 scientific paper abstracts.</a:t>
            </a:r>
          </a:p>
          <a:p>
            <a:pPr lvl="1"/>
            <a:r>
              <a:rPr lang="en-US" dirty="0"/>
              <a:t>100 queries</a:t>
            </a:r>
          </a:p>
          <a:p>
            <a:pPr lvl="2"/>
            <a:r>
              <a:rPr lang="en-US" dirty="0"/>
              <a:t>3-9 aspects</a:t>
            </a:r>
          </a:p>
          <a:p>
            <a:pPr lvl="2"/>
            <a:r>
              <a:rPr lang="en-US" dirty="0"/>
              <a:t>0-6 sub-aspect</a:t>
            </a:r>
          </a:p>
          <a:p>
            <a:pPr lvl="2"/>
            <a:r>
              <a:rPr lang="en-US" dirty="0"/>
              <a:t>~100 candidates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74767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39FFD-11AE-093C-AF54-3D49FDF75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creation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69235-D516-65A8-17E7-DE1C4F24C5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217107" cy="4506054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"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query_text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": "Additionally, I am looking for models that are able to analyze sequential patterns and utilize time-based statistics and thus can calculate accurate event probability.",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"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aspect_id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": "542",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"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original_query_type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": "ML",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"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candidate_pool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": [42500, 259088, 195089, 304657, … , 18935, 19450],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"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candidate_scores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": [1, 0, 0, 1, … , 2, 1]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100 queries → </a:t>
            </a:r>
            <a:r>
              <a:rPr lang="en-US" b="1" dirty="0"/>
              <a:t>1501</a:t>
            </a:r>
            <a:r>
              <a:rPr lang="en-US" dirty="0"/>
              <a:t> input sequences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86014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2C916-0D28-50C0-B1EE-BBF4CE481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Finetuning</a:t>
            </a:r>
          </a:p>
        </p:txBody>
      </p:sp>
      <p:pic>
        <p:nvPicPr>
          <p:cNvPr id="16" name="Content Placeholder 15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CF6AF02E-7A78-6ABC-7E05-4B0134CAB1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3374" y="1879308"/>
            <a:ext cx="5265679" cy="4152898"/>
          </a:xfrm>
          <a:prstGeom prst="rect">
            <a:avLst/>
          </a:prstGeom>
        </p:spPr>
      </p:pic>
      <p:pic>
        <p:nvPicPr>
          <p:cNvPr id="18" name="Picture 17" descr="A computer screen shot of text&#10;&#10;AI-generated content may be incorrect.">
            <a:extLst>
              <a:ext uri="{FF2B5EF4-FFF2-40B4-BE49-F238E27FC236}">
                <a16:creationId xmlns:a16="http://schemas.microsoft.com/office/drawing/2014/main" id="{54D18E46-92B1-2C18-4678-F585A11BB9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9053" y="1879308"/>
            <a:ext cx="5892846" cy="4152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8310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black background with many small lines&#10;&#10;AI-generated content may be incorrect.">
            <a:extLst>
              <a:ext uri="{FF2B5EF4-FFF2-40B4-BE49-F238E27FC236}">
                <a16:creationId xmlns:a16="http://schemas.microsoft.com/office/drawing/2014/main" id="{D703ABF2-5851-F192-2924-062239DA862F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tretch/>
        </p:blipFill>
        <p:spPr>
          <a:xfrm>
            <a:off x="-1" y="3089790"/>
            <a:ext cx="12191999" cy="3840480"/>
          </a:xfrm>
          <a:prstGeom prst="rect">
            <a:avLst/>
          </a:prstGeom>
          <a:noFill/>
        </p:spPr>
      </p:pic>
      <p:pic>
        <p:nvPicPr>
          <p:cNvPr id="15" name="Picture 14" descr="A black screen with many small colored lines&#10;&#10;AI-generated content may be incorrect.">
            <a:extLst>
              <a:ext uri="{FF2B5EF4-FFF2-40B4-BE49-F238E27FC236}">
                <a16:creationId xmlns:a16="http://schemas.microsoft.com/office/drawing/2014/main" id="{7D1AB990-0240-D7DD-83E4-A65AE4464B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3089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2873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75ABCC0-46F9-4604-FC90-A58D0A9C2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dirty="0"/>
              <a:t>Results (GEMMA-3 4B)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AF83E41-EBFC-F64A-C6CA-8AD55D0E2B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3926076"/>
              </p:ext>
            </p:extLst>
          </p:nvPr>
        </p:nvGraphicFramePr>
        <p:xfrm>
          <a:off x="580858" y="2227093"/>
          <a:ext cx="11029950" cy="1722120"/>
        </p:xfrm>
        <a:graphic>
          <a:graphicData uri="http://schemas.openxmlformats.org/drawingml/2006/table">
            <a:tbl>
              <a:tblPr/>
              <a:tblGrid>
                <a:gridCol w="1225550">
                  <a:extLst>
                    <a:ext uri="{9D8B030D-6E8A-4147-A177-3AD203B41FA5}">
                      <a16:colId xmlns:a16="http://schemas.microsoft.com/office/drawing/2014/main" val="501117026"/>
                    </a:ext>
                  </a:extLst>
                </a:gridCol>
                <a:gridCol w="1225550">
                  <a:extLst>
                    <a:ext uri="{9D8B030D-6E8A-4147-A177-3AD203B41FA5}">
                      <a16:colId xmlns:a16="http://schemas.microsoft.com/office/drawing/2014/main" val="302413305"/>
                    </a:ext>
                  </a:extLst>
                </a:gridCol>
                <a:gridCol w="1225550">
                  <a:extLst>
                    <a:ext uri="{9D8B030D-6E8A-4147-A177-3AD203B41FA5}">
                      <a16:colId xmlns:a16="http://schemas.microsoft.com/office/drawing/2014/main" val="37716105"/>
                    </a:ext>
                  </a:extLst>
                </a:gridCol>
                <a:gridCol w="1225550">
                  <a:extLst>
                    <a:ext uri="{9D8B030D-6E8A-4147-A177-3AD203B41FA5}">
                      <a16:colId xmlns:a16="http://schemas.microsoft.com/office/drawing/2014/main" val="2875390647"/>
                    </a:ext>
                  </a:extLst>
                </a:gridCol>
                <a:gridCol w="1225550">
                  <a:extLst>
                    <a:ext uri="{9D8B030D-6E8A-4147-A177-3AD203B41FA5}">
                      <a16:colId xmlns:a16="http://schemas.microsoft.com/office/drawing/2014/main" val="1330436886"/>
                    </a:ext>
                  </a:extLst>
                </a:gridCol>
                <a:gridCol w="1225550">
                  <a:extLst>
                    <a:ext uri="{9D8B030D-6E8A-4147-A177-3AD203B41FA5}">
                      <a16:colId xmlns:a16="http://schemas.microsoft.com/office/drawing/2014/main" val="3727429169"/>
                    </a:ext>
                  </a:extLst>
                </a:gridCol>
                <a:gridCol w="1225550">
                  <a:extLst>
                    <a:ext uri="{9D8B030D-6E8A-4147-A177-3AD203B41FA5}">
                      <a16:colId xmlns:a16="http://schemas.microsoft.com/office/drawing/2014/main" val="4286843389"/>
                    </a:ext>
                  </a:extLst>
                </a:gridCol>
                <a:gridCol w="1225550">
                  <a:extLst>
                    <a:ext uri="{9D8B030D-6E8A-4147-A177-3AD203B41FA5}">
                      <a16:colId xmlns:a16="http://schemas.microsoft.com/office/drawing/2014/main" val="2078065014"/>
                    </a:ext>
                  </a:extLst>
                </a:gridCol>
                <a:gridCol w="1225550">
                  <a:extLst>
                    <a:ext uri="{9D8B030D-6E8A-4147-A177-3AD203B41FA5}">
                      <a16:colId xmlns:a16="http://schemas.microsoft.com/office/drawing/2014/main" val="22715674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Category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R@20 (Base)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R@20 (FT)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R@5 (Base)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R@5 (FT)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NDCG@20 (Base)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NDCG@20 (FT)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NDCG@5 (Base)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NDCG@5 (FT)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37289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 err="1"/>
                        <a:t>inline_broad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33.25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37.83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23.78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30.44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19.83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25.87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16.87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23.56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5748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inline_specific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53.90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55.63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42.86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43.94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31.74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40.55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28.54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37.14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78762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author_broad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51.43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57.14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37.14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40.00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32.64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41.44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28.41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36.46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38084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author_specific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72.51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74.88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59.72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67.77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46.77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60.23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42.89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58.27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04702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0" dirty="0"/>
                        <a:t>Overall Avg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0"/>
                        <a:t>56.18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58.94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0"/>
                        <a:t>44.65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49.42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0"/>
                        <a:t>34.71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44.61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0"/>
                        <a:t>31.26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41.84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066007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BAFE421-11A4-F48B-070E-EA16F80E0848}"/>
              </a:ext>
            </a:extLst>
          </p:cNvPr>
          <p:cNvSpPr txBox="1"/>
          <p:nvPr/>
        </p:nvSpPr>
        <p:spPr>
          <a:xfrm>
            <a:off x="580858" y="1857761"/>
            <a:ext cx="816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BM25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ACB7B6-0CCC-E8CA-C222-01F167397352}"/>
              </a:ext>
            </a:extLst>
          </p:cNvPr>
          <p:cNvSpPr txBox="1"/>
          <p:nvPr/>
        </p:nvSpPr>
        <p:spPr>
          <a:xfrm>
            <a:off x="5687762" y="3956404"/>
            <a:ext cx="8161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K = 100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149472F-B35D-58FC-C130-0C36AE669C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6551522"/>
              </p:ext>
            </p:extLst>
          </p:nvPr>
        </p:nvGraphicFramePr>
        <p:xfrm>
          <a:off x="581025" y="4401692"/>
          <a:ext cx="11029950" cy="1722120"/>
        </p:xfrm>
        <a:graphic>
          <a:graphicData uri="http://schemas.openxmlformats.org/drawingml/2006/table">
            <a:tbl>
              <a:tblPr/>
              <a:tblGrid>
                <a:gridCol w="1225550">
                  <a:extLst>
                    <a:ext uri="{9D8B030D-6E8A-4147-A177-3AD203B41FA5}">
                      <a16:colId xmlns:a16="http://schemas.microsoft.com/office/drawing/2014/main" val="1961849569"/>
                    </a:ext>
                  </a:extLst>
                </a:gridCol>
                <a:gridCol w="1225550">
                  <a:extLst>
                    <a:ext uri="{9D8B030D-6E8A-4147-A177-3AD203B41FA5}">
                      <a16:colId xmlns:a16="http://schemas.microsoft.com/office/drawing/2014/main" val="3053960372"/>
                    </a:ext>
                  </a:extLst>
                </a:gridCol>
                <a:gridCol w="1225550">
                  <a:extLst>
                    <a:ext uri="{9D8B030D-6E8A-4147-A177-3AD203B41FA5}">
                      <a16:colId xmlns:a16="http://schemas.microsoft.com/office/drawing/2014/main" val="1958042252"/>
                    </a:ext>
                  </a:extLst>
                </a:gridCol>
                <a:gridCol w="1225550">
                  <a:extLst>
                    <a:ext uri="{9D8B030D-6E8A-4147-A177-3AD203B41FA5}">
                      <a16:colId xmlns:a16="http://schemas.microsoft.com/office/drawing/2014/main" val="2932650896"/>
                    </a:ext>
                  </a:extLst>
                </a:gridCol>
                <a:gridCol w="1225550">
                  <a:extLst>
                    <a:ext uri="{9D8B030D-6E8A-4147-A177-3AD203B41FA5}">
                      <a16:colId xmlns:a16="http://schemas.microsoft.com/office/drawing/2014/main" val="494089429"/>
                    </a:ext>
                  </a:extLst>
                </a:gridCol>
                <a:gridCol w="1225550">
                  <a:extLst>
                    <a:ext uri="{9D8B030D-6E8A-4147-A177-3AD203B41FA5}">
                      <a16:colId xmlns:a16="http://schemas.microsoft.com/office/drawing/2014/main" val="3597736894"/>
                    </a:ext>
                  </a:extLst>
                </a:gridCol>
                <a:gridCol w="1225550">
                  <a:extLst>
                    <a:ext uri="{9D8B030D-6E8A-4147-A177-3AD203B41FA5}">
                      <a16:colId xmlns:a16="http://schemas.microsoft.com/office/drawing/2014/main" val="910836517"/>
                    </a:ext>
                  </a:extLst>
                </a:gridCol>
                <a:gridCol w="1225550">
                  <a:extLst>
                    <a:ext uri="{9D8B030D-6E8A-4147-A177-3AD203B41FA5}">
                      <a16:colId xmlns:a16="http://schemas.microsoft.com/office/drawing/2014/main" val="3280037080"/>
                    </a:ext>
                  </a:extLst>
                </a:gridCol>
                <a:gridCol w="1225550">
                  <a:extLst>
                    <a:ext uri="{9D8B030D-6E8A-4147-A177-3AD203B41FA5}">
                      <a16:colId xmlns:a16="http://schemas.microsoft.com/office/drawing/2014/main" val="32144839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Category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R@20 (Base)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R@20 (FT)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R@5 (Base)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R@5 (FT)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NDCG@20 (Base)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NDCG@20 (FT)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NDCG@5 (Base)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NDCG@5 (FT)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21005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inline_broad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37.42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37.42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27.53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31.69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22.60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27.11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19.83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25.30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32755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inline_specific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55.84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55.84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43.72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45.24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35.57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41.27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32.25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38.13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24230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author_broad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48.57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48.57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31.43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45.71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29.12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40.61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24.48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39.75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23683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author_specific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73.46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73.46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55.92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69.19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49.58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62.63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44.84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61.36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74399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0" dirty="0"/>
                        <a:t>Overall Avg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0" dirty="0"/>
                        <a:t>57.94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0" dirty="0"/>
                        <a:t>57.94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0" dirty="0"/>
                        <a:t>44.06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51.01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0" dirty="0"/>
                        <a:t>37.54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45.94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0" dirty="0"/>
                        <a:t>33.75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43.86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358748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5112190-47F3-33C2-4901-3E26A190B591}"/>
              </a:ext>
            </a:extLst>
          </p:cNvPr>
          <p:cNvSpPr txBox="1"/>
          <p:nvPr/>
        </p:nvSpPr>
        <p:spPr>
          <a:xfrm>
            <a:off x="5687762" y="6107434"/>
            <a:ext cx="8161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K = 20</a:t>
            </a:r>
          </a:p>
        </p:txBody>
      </p:sp>
    </p:spTree>
    <p:extLst>
      <p:ext uri="{BB962C8B-B14F-4D97-AF65-F5344CB8AC3E}">
        <p14:creationId xmlns:p14="http://schemas.microsoft.com/office/powerpoint/2010/main" val="6657416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C3956-8FA4-0C2B-5B99-E273AB8DD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1E522869-AA0B-E7F4-CF68-7A08056CA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dirty="0"/>
              <a:t>Results (GEMMA-3 4B)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77C7AC3-BB7B-6C5B-6722-BDDC5C831C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7744300"/>
              </p:ext>
            </p:extLst>
          </p:nvPr>
        </p:nvGraphicFramePr>
        <p:xfrm>
          <a:off x="580858" y="2227093"/>
          <a:ext cx="11029950" cy="1722120"/>
        </p:xfrm>
        <a:graphic>
          <a:graphicData uri="http://schemas.openxmlformats.org/drawingml/2006/table">
            <a:tbl>
              <a:tblPr/>
              <a:tblGrid>
                <a:gridCol w="1225550">
                  <a:extLst>
                    <a:ext uri="{9D8B030D-6E8A-4147-A177-3AD203B41FA5}">
                      <a16:colId xmlns:a16="http://schemas.microsoft.com/office/drawing/2014/main" val="501117026"/>
                    </a:ext>
                  </a:extLst>
                </a:gridCol>
                <a:gridCol w="1225550">
                  <a:extLst>
                    <a:ext uri="{9D8B030D-6E8A-4147-A177-3AD203B41FA5}">
                      <a16:colId xmlns:a16="http://schemas.microsoft.com/office/drawing/2014/main" val="302413305"/>
                    </a:ext>
                  </a:extLst>
                </a:gridCol>
                <a:gridCol w="1225550">
                  <a:extLst>
                    <a:ext uri="{9D8B030D-6E8A-4147-A177-3AD203B41FA5}">
                      <a16:colId xmlns:a16="http://schemas.microsoft.com/office/drawing/2014/main" val="37716105"/>
                    </a:ext>
                  </a:extLst>
                </a:gridCol>
                <a:gridCol w="1225550">
                  <a:extLst>
                    <a:ext uri="{9D8B030D-6E8A-4147-A177-3AD203B41FA5}">
                      <a16:colId xmlns:a16="http://schemas.microsoft.com/office/drawing/2014/main" val="2875390647"/>
                    </a:ext>
                  </a:extLst>
                </a:gridCol>
                <a:gridCol w="1225550">
                  <a:extLst>
                    <a:ext uri="{9D8B030D-6E8A-4147-A177-3AD203B41FA5}">
                      <a16:colId xmlns:a16="http://schemas.microsoft.com/office/drawing/2014/main" val="1330436886"/>
                    </a:ext>
                  </a:extLst>
                </a:gridCol>
                <a:gridCol w="1225550">
                  <a:extLst>
                    <a:ext uri="{9D8B030D-6E8A-4147-A177-3AD203B41FA5}">
                      <a16:colId xmlns:a16="http://schemas.microsoft.com/office/drawing/2014/main" val="3727429169"/>
                    </a:ext>
                  </a:extLst>
                </a:gridCol>
                <a:gridCol w="1225550">
                  <a:extLst>
                    <a:ext uri="{9D8B030D-6E8A-4147-A177-3AD203B41FA5}">
                      <a16:colId xmlns:a16="http://schemas.microsoft.com/office/drawing/2014/main" val="4286843389"/>
                    </a:ext>
                  </a:extLst>
                </a:gridCol>
                <a:gridCol w="1225550">
                  <a:extLst>
                    <a:ext uri="{9D8B030D-6E8A-4147-A177-3AD203B41FA5}">
                      <a16:colId xmlns:a16="http://schemas.microsoft.com/office/drawing/2014/main" val="2078065014"/>
                    </a:ext>
                  </a:extLst>
                </a:gridCol>
                <a:gridCol w="1225550">
                  <a:extLst>
                    <a:ext uri="{9D8B030D-6E8A-4147-A177-3AD203B41FA5}">
                      <a16:colId xmlns:a16="http://schemas.microsoft.com/office/drawing/2014/main" val="22715674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Category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R@20 (Base)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R@20 (FT)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R@5 (Base)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R@5 (FT)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NDCG@20 (Base)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NDCG@20 (FT)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NDCG@5 (Base)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NDCG@5 (FT)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37289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inline_broad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44.92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43.25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31.72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35.03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25.35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30.68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21.45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27.98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5748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inline_specific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50.65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52.60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42.42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42.86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31.07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39.75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28.59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36.86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78762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author_broad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34.29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37.14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34.29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34.29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25.37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32.62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25.37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31.60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38084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author_specific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54.03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55.92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42.18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51.18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36.15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45.04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32.80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43.68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04702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0" dirty="0"/>
                        <a:t>Overall Avg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0" dirty="0"/>
                        <a:t>49.73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50.99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0" dirty="0"/>
                        <a:t>39.71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43.72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0" dirty="0"/>
                        <a:t>31.38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39.38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0" dirty="0"/>
                        <a:t>28.45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37.18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066007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85C597D-CDE0-1822-3086-369CBD5B8E68}"/>
              </a:ext>
            </a:extLst>
          </p:cNvPr>
          <p:cNvSpPr txBox="1"/>
          <p:nvPr/>
        </p:nvSpPr>
        <p:spPr>
          <a:xfrm>
            <a:off x="580858" y="1857761"/>
            <a:ext cx="816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GTR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CDA968-B7DE-6EDE-E2F8-7DE3E3F75F33}"/>
              </a:ext>
            </a:extLst>
          </p:cNvPr>
          <p:cNvSpPr txBox="1"/>
          <p:nvPr/>
        </p:nvSpPr>
        <p:spPr>
          <a:xfrm>
            <a:off x="5687762" y="3956404"/>
            <a:ext cx="8161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K = 100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A7385A2-FED7-5182-FBA9-36B6D1C3F3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1515917"/>
              </p:ext>
            </p:extLst>
          </p:nvPr>
        </p:nvGraphicFramePr>
        <p:xfrm>
          <a:off x="580858" y="4433724"/>
          <a:ext cx="11029950" cy="1722120"/>
        </p:xfrm>
        <a:graphic>
          <a:graphicData uri="http://schemas.openxmlformats.org/drawingml/2006/table">
            <a:tbl>
              <a:tblPr/>
              <a:tblGrid>
                <a:gridCol w="1225550">
                  <a:extLst>
                    <a:ext uri="{9D8B030D-6E8A-4147-A177-3AD203B41FA5}">
                      <a16:colId xmlns:a16="http://schemas.microsoft.com/office/drawing/2014/main" val="1961849569"/>
                    </a:ext>
                  </a:extLst>
                </a:gridCol>
                <a:gridCol w="1225550">
                  <a:extLst>
                    <a:ext uri="{9D8B030D-6E8A-4147-A177-3AD203B41FA5}">
                      <a16:colId xmlns:a16="http://schemas.microsoft.com/office/drawing/2014/main" val="3053960372"/>
                    </a:ext>
                  </a:extLst>
                </a:gridCol>
                <a:gridCol w="1225550">
                  <a:extLst>
                    <a:ext uri="{9D8B030D-6E8A-4147-A177-3AD203B41FA5}">
                      <a16:colId xmlns:a16="http://schemas.microsoft.com/office/drawing/2014/main" val="1958042252"/>
                    </a:ext>
                  </a:extLst>
                </a:gridCol>
                <a:gridCol w="1225550">
                  <a:extLst>
                    <a:ext uri="{9D8B030D-6E8A-4147-A177-3AD203B41FA5}">
                      <a16:colId xmlns:a16="http://schemas.microsoft.com/office/drawing/2014/main" val="2932650896"/>
                    </a:ext>
                  </a:extLst>
                </a:gridCol>
                <a:gridCol w="1225550">
                  <a:extLst>
                    <a:ext uri="{9D8B030D-6E8A-4147-A177-3AD203B41FA5}">
                      <a16:colId xmlns:a16="http://schemas.microsoft.com/office/drawing/2014/main" val="494089429"/>
                    </a:ext>
                  </a:extLst>
                </a:gridCol>
                <a:gridCol w="1225550">
                  <a:extLst>
                    <a:ext uri="{9D8B030D-6E8A-4147-A177-3AD203B41FA5}">
                      <a16:colId xmlns:a16="http://schemas.microsoft.com/office/drawing/2014/main" val="3597736894"/>
                    </a:ext>
                  </a:extLst>
                </a:gridCol>
                <a:gridCol w="1225550">
                  <a:extLst>
                    <a:ext uri="{9D8B030D-6E8A-4147-A177-3AD203B41FA5}">
                      <a16:colId xmlns:a16="http://schemas.microsoft.com/office/drawing/2014/main" val="910836517"/>
                    </a:ext>
                  </a:extLst>
                </a:gridCol>
                <a:gridCol w="1225550">
                  <a:extLst>
                    <a:ext uri="{9D8B030D-6E8A-4147-A177-3AD203B41FA5}">
                      <a16:colId xmlns:a16="http://schemas.microsoft.com/office/drawing/2014/main" val="3280037080"/>
                    </a:ext>
                  </a:extLst>
                </a:gridCol>
                <a:gridCol w="1225550">
                  <a:extLst>
                    <a:ext uri="{9D8B030D-6E8A-4147-A177-3AD203B41FA5}">
                      <a16:colId xmlns:a16="http://schemas.microsoft.com/office/drawing/2014/main" val="32144839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Category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R@20 (Base)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R@20 (FT)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R@5 (Base)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R@5 (FT)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NDCG@20 (Base)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NDCG@20 (FT)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NDCG@5 (Base)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NDCG@5 (FT)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21005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inline_broad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45.75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45.75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33.39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39.22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29.27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33.77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25.68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31.67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32755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inline_specific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51.52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51.52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39.39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44.37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33.67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41.53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30.13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39.43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24230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author_broad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37.14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37.14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28.57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31.43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24.74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31.57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22.60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29.80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23683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author_specific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55.92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55.92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46.45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52.61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40.48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48.11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37.87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47.12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74399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0" dirty="0"/>
                        <a:t>Overall Avg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0" dirty="0"/>
                        <a:t>51.07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0" dirty="0"/>
                        <a:t>51.07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0" dirty="0"/>
                        <a:t>40.04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45.49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0" dirty="0"/>
                        <a:t>34.67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41.71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0" dirty="0"/>
                        <a:t>31.53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40.02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358748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199FCF01-0B94-DCAC-3756-063B22EA9201}"/>
              </a:ext>
            </a:extLst>
          </p:cNvPr>
          <p:cNvSpPr txBox="1"/>
          <p:nvPr/>
        </p:nvSpPr>
        <p:spPr>
          <a:xfrm>
            <a:off x="5687762" y="6155844"/>
            <a:ext cx="8161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K = 20</a:t>
            </a:r>
          </a:p>
        </p:txBody>
      </p:sp>
    </p:spTree>
    <p:extLst>
      <p:ext uri="{BB962C8B-B14F-4D97-AF65-F5344CB8AC3E}">
        <p14:creationId xmlns:p14="http://schemas.microsoft.com/office/powerpoint/2010/main" val="18431442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033CF-7B94-A481-D4EF-6BE64E6F3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(GEMMA-3 4B)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936C2A-1981-AB19-914F-D0EBCEC649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62996"/>
            <a:ext cx="11029615" cy="3678303"/>
          </a:xfrm>
        </p:spPr>
        <p:txBody>
          <a:bodyPr anchor="t"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GRIT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D47A702-7F5F-4D22-C8BE-A6A4596DC7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6962445"/>
              </p:ext>
            </p:extLst>
          </p:nvPr>
        </p:nvGraphicFramePr>
        <p:xfrm>
          <a:off x="580857" y="2277428"/>
          <a:ext cx="11029950" cy="1722120"/>
        </p:xfrm>
        <a:graphic>
          <a:graphicData uri="http://schemas.openxmlformats.org/drawingml/2006/table">
            <a:tbl>
              <a:tblPr/>
              <a:tblGrid>
                <a:gridCol w="1225550">
                  <a:extLst>
                    <a:ext uri="{9D8B030D-6E8A-4147-A177-3AD203B41FA5}">
                      <a16:colId xmlns:a16="http://schemas.microsoft.com/office/drawing/2014/main" val="613713579"/>
                    </a:ext>
                  </a:extLst>
                </a:gridCol>
                <a:gridCol w="1225550">
                  <a:extLst>
                    <a:ext uri="{9D8B030D-6E8A-4147-A177-3AD203B41FA5}">
                      <a16:colId xmlns:a16="http://schemas.microsoft.com/office/drawing/2014/main" val="785068"/>
                    </a:ext>
                  </a:extLst>
                </a:gridCol>
                <a:gridCol w="1225550">
                  <a:extLst>
                    <a:ext uri="{9D8B030D-6E8A-4147-A177-3AD203B41FA5}">
                      <a16:colId xmlns:a16="http://schemas.microsoft.com/office/drawing/2014/main" val="1716804745"/>
                    </a:ext>
                  </a:extLst>
                </a:gridCol>
                <a:gridCol w="1225550">
                  <a:extLst>
                    <a:ext uri="{9D8B030D-6E8A-4147-A177-3AD203B41FA5}">
                      <a16:colId xmlns:a16="http://schemas.microsoft.com/office/drawing/2014/main" val="741888464"/>
                    </a:ext>
                  </a:extLst>
                </a:gridCol>
                <a:gridCol w="1225550">
                  <a:extLst>
                    <a:ext uri="{9D8B030D-6E8A-4147-A177-3AD203B41FA5}">
                      <a16:colId xmlns:a16="http://schemas.microsoft.com/office/drawing/2014/main" val="3077266658"/>
                    </a:ext>
                  </a:extLst>
                </a:gridCol>
                <a:gridCol w="1225550">
                  <a:extLst>
                    <a:ext uri="{9D8B030D-6E8A-4147-A177-3AD203B41FA5}">
                      <a16:colId xmlns:a16="http://schemas.microsoft.com/office/drawing/2014/main" val="139181809"/>
                    </a:ext>
                  </a:extLst>
                </a:gridCol>
                <a:gridCol w="1225550">
                  <a:extLst>
                    <a:ext uri="{9D8B030D-6E8A-4147-A177-3AD203B41FA5}">
                      <a16:colId xmlns:a16="http://schemas.microsoft.com/office/drawing/2014/main" val="1762566407"/>
                    </a:ext>
                  </a:extLst>
                </a:gridCol>
                <a:gridCol w="1225550">
                  <a:extLst>
                    <a:ext uri="{9D8B030D-6E8A-4147-A177-3AD203B41FA5}">
                      <a16:colId xmlns:a16="http://schemas.microsoft.com/office/drawing/2014/main" val="3310111488"/>
                    </a:ext>
                  </a:extLst>
                </a:gridCol>
                <a:gridCol w="1225550">
                  <a:extLst>
                    <a:ext uri="{9D8B030D-6E8A-4147-A177-3AD203B41FA5}">
                      <a16:colId xmlns:a16="http://schemas.microsoft.com/office/drawing/2014/main" val="2187914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Category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R@20 (Base)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R@20 (FT)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R@5 (Base)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R@5 (FT)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NDCG@20 (Base)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NDCG@20 (FT)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NDCG@5 (Base)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NDCG@5 (FT)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590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 err="1"/>
                        <a:t>inline_broad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64.18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64.11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50.33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52.28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36.42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49.59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31.96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45.84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68289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inline_specific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74.24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78.14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62.12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68.18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43.21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61.99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39.46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59.17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57055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author_broad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68.57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74.29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51.43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60.00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42.66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53.62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37.85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49.92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18344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author_specific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86.73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87.20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78.20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78.67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60.99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72.18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58.31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69.54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2675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0" dirty="0"/>
                        <a:t>Overall Avg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0" dirty="0"/>
                        <a:t>76.30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78.30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0" dirty="0"/>
                        <a:t>64.81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68.21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0" dirty="0"/>
                        <a:t>48.10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62.61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0" dirty="0"/>
                        <a:t>44.52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59.61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29646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C9BB48F-EBFB-C3C3-0BC2-3D36756581D3}"/>
              </a:ext>
            </a:extLst>
          </p:cNvPr>
          <p:cNvSpPr txBox="1"/>
          <p:nvPr/>
        </p:nvSpPr>
        <p:spPr>
          <a:xfrm>
            <a:off x="5687928" y="4032683"/>
            <a:ext cx="8161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K = 100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DEA47F5-4B14-CD04-856C-097A244395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1310007"/>
              </p:ext>
            </p:extLst>
          </p:nvPr>
        </p:nvGraphicFramePr>
        <p:xfrm>
          <a:off x="581192" y="4413980"/>
          <a:ext cx="11029950" cy="1722120"/>
        </p:xfrm>
        <a:graphic>
          <a:graphicData uri="http://schemas.openxmlformats.org/drawingml/2006/table">
            <a:tbl>
              <a:tblPr/>
              <a:tblGrid>
                <a:gridCol w="1225550">
                  <a:extLst>
                    <a:ext uri="{9D8B030D-6E8A-4147-A177-3AD203B41FA5}">
                      <a16:colId xmlns:a16="http://schemas.microsoft.com/office/drawing/2014/main" val="4238606892"/>
                    </a:ext>
                  </a:extLst>
                </a:gridCol>
                <a:gridCol w="1225550">
                  <a:extLst>
                    <a:ext uri="{9D8B030D-6E8A-4147-A177-3AD203B41FA5}">
                      <a16:colId xmlns:a16="http://schemas.microsoft.com/office/drawing/2014/main" val="1183056132"/>
                    </a:ext>
                  </a:extLst>
                </a:gridCol>
                <a:gridCol w="1225550">
                  <a:extLst>
                    <a:ext uri="{9D8B030D-6E8A-4147-A177-3AD203B41FA5}">
                      <a16:colId xmlns:a16="http://schemas.microsoft.com/office/drawing/2014/main" val="2078601016"/>
                    </a:ext>
                  </a:extLst>
                </a:gridCol>
                <a:gridCol w="1225550">
                  <a:extLst>
                    <a:ext uri="{9D8B030D-6E8A-4147-A177-3AD203B41FA5}">
                      <a16:colId xmlns:a16="http://schemas.microsoft.com/office/drawing/2014/main" val="4088979340"/>
                    </a:ext>
                  </a:extLst>
                </a:gridCol>
                <a:gridCol w="1225550">
                  <a:extLst>
                    <a:ext uri="{9D8B030D-6E8A-4147-A177-3AD203B41FA5}">
                      <a16:colId xmlns:a16="http://schemas.microsoft.com/office/drawing/2014/main" val="408919007"/>
                    </a:ext>
                  </a:extLst>
                </a:gridCol>
                <a:gridCol w="1225550">
                  <a:extLst>
                    <a:ext uri="{9D8B030D-6E8A-4147-A177-3AD203B41FA5}">
                      <a16:colId xmlns:a16="http://schemas.microsoft.com/office/drawing/2014/main" val="2127738698"/>
                    </a:ext>
                  </a:extLst>
                </a:gridCol>
                <a:gridCol w="1225550">
                  <a:extLst>
                    <a:ext uri="{9D8B030D-6E8A-4147-A177-3AD203B41FA5}">
                      <a16:colId xmlns:a16="http://schemas.microsoft.com/office/drawing/2014/main" val="3571988833"/>
                    </a:ext>
                  </a:extLst>
                </a:gridCol>
                <a:gridCol w="1225550">
                  <a:extLst>
                    <a:ext uri="{9D8B030D-6E8A-4147-A177-3AD203B41FA5}">
                      <a16:colId xmlns:a16="http://schemas.microsoft.com/office/drawing/2014/main" val="1586259239"/>
                    </a:ext>
                  </a:extLst>
                </a:gridCol>
                <a:gridCol w="1225550">
                  <a:extLst>
                    <a:ext uri="{9D8B030D-6E8A-4147-A177-3AD203B41FA5}">
                      <a16:colId xmlns:a16="http://schemas.microsoft.com/office/drawing/2014/main" val="36917865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Category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R@20 (Base)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R@20 (FT)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R@5 (Base)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R@5 (FT)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NDCG@20 (Base)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NDCG@20 (FT)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NDCG@5 (Base)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NDCG@5 (FT)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07139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inline_broad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69.74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69.74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40.89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54.08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36.81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50.76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28.64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45.93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05597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inline_specific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77.92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77.92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44.16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67.32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41.84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62.31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32.69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59.04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40849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author_broad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74.29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74.29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51.43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57.14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40.63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54.15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34.42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48.80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43496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author_specific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89.10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89.10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62.09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79.15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54.97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73.79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47.58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70.63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93939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0" dirty="0"/>
                        <a:t>Overall Avg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0" dirty="0"/>
                        <a:t>80.01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0" dirty="0"/>
                        <a:t>80.01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0" dirty="0"/>
                        <a:t>50.26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68.24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0" dirty="0"/>
                        <a:t>45.40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63.57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0" dirty="0"/>
                        <a:t>37.24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59.90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968530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B236AA2-1752-75FC-E1D1-E5AA567568E6}"/>
              </a:ext>
            </a:extLst>
          </p:cNvPr>
          <p:cNvSpPr txBox="1"/>
          <p:nvPr/>
        </p:nvSpPr>
        <p:spPr>
          <a:xfrm>
            <a:off x="5687761" y="6209620"/>
            <a:ext cx="8161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K = 20</a:t>
            </a:r>
          </a:p>
        </p:txBody>
      </p:sp>
    </p:spTree>
    <p:extLst>
      <p:ext uri="{BB962C8B-B14F-4D97-AF65-F5344CB8AC3E}">
        <p14:creationId xmlns:p14="http://schemas.microsoft.com/office/powerpoint/2010/main" val="27875302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9EA70-A228-C796-2E3C-B4ABE4EC0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6BB21-BE0C-9553-20C7-44C51653F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(GEMMA-3 4B)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51318-D5BC-B01F-2724-C0C848A35A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62996"/>
            <a:ext cx="11029615" cy="3678303"/>
          </a:xfrm>
        </p:spPr>
        <p:txBody>
          <a:bodyPr anchor="t"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QWEN3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162C6E1-820D-D9E7-13DA-7D422A9108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9318544"/>
              </p:ext>
            </p:extLst>
          </p:nvPr>
        </p:nvGraphicFramePr>
        <p:xfrm>
          <a:off x="581192" y="2277428"/>
          <a:ext cx="11029950" cy="1722120"/>
        </p:xfrm>
        <a:graphic>
          <a:graphicData uri="http://schemas.openxmlformats.org/drawingml/2006/table">
            <a:tbl>
              <a:tblPr/>
              <a:tblGrid>
                <a:gridCol w="1225550">
                  <a:extLst>
                    <a:ext uri="{9D8B030D-6E8A-4147-A177-3AD203B41FA5}">
                      <a16:colId xmlns:a16="http://schemas.microsoft.com/office/drawing/2014/main" val="613713579"/>
                    </a:ext>
                  </a:extLst>
                </a:gridCol>
                <a:gridCol w="1225550">
                  <a:extLst>
                    <a:ext uri="{9D8B030D-6E8A-4147-A177-3AD203B41FA5}">
                      <a16:colId xmlns:a16="http://schemas.microsoft.com/office/drawing/2014/main" val="785068"/>
                    </a:ext>
                  </a:extLst>
                </a:gridCol>
                <a:gridCol w="1225550">
                  <a:extLst>
                    <a:ext uri="{9D8B030D-6E8A-4147-A177-3AD203B41FA5}">
                      <a16:colId xmlns:a16="http://schemas.microsoft.com/office/drawing/2014/main" val="1716804745"/>
                    </a:ext>
                  </a:extLst>
                </a:gridCol>
                <a:gridCol w="1225550">
                  <a:extLst>
                    <a:ext uri="{9D8B030D-6E8A-4147-A177-3AD203B41FA5}">
                      <a16:colId xmlns:a16="http://schemas.microsoft.com/office/drawing/2014/main" val="741888464"/>
                    </a:ext>
                  </a:extLst>
                </a:gridCol>
                <a:gridCol w="1225550">
                  <a:extLst>
                    <a:ext uri="{9D8B030D-6E8A-4147-A177-3AD203B41FA5}">
                      <a16:colId xmlns:a16="http://schemas.microsoft.com/office/drawing/2014/main" val="3077266658"/>
                    </a:ext>
                  </a:extLst>
                </a:gridCol>
                <a:gridCol w="1225550">
                  <a:extLst>
                    <a:ext uri="{9D8B030D-6E8A-4147-A177-3AD203B41FA5}">
                      <a16:colId xmlns:a16="http://schemas.microsoft.com/office/drawing/2014/main" val="139181809"/>
                    </a:ext>
                  </a:extLst>
                </a:gridCol>
                <a:gridCol w="1225550">
                  <a:extLst>
                    <a:ext uri="{9D8B030D-6E8A-4147-A177-3AD203B41FA5}">
                      <a16:colId xmlns:a16="http://schemas.microsoft.com/office/drawing/2014/main" val="1762566407"/>
                    </a:ext>
                  </a:extLst>
                </a:gridCol>
                <a:gridCol w="1225550">
                  <a:extLst>
                    <a:ext uri="{9D8B030D-6E8A-4147-A177-3AD203B41FA5}">
                      <a16:colId xmlns:a16="http://schemas.microsoft.com/office/drawing/2014/main" val="3310111488"/>
                    </a:ext>
                  </a:extLst>
                </a:gridCol>
                <a:gridCol w="1225550">
                  <a:extLst>
                    <a:ext uri="{9D8B030D-6E8A-4147-A177-3AD203B41FA5}">
                      <a16:colId xmlns:a16="http://schemas.microsoft.com/office/drawing/2014/main" val="2187914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Category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R@20 (Base)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R@20 (FT)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R@5 (Base)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R@5 (FT)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NDCG@20 (Base)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NDCG@20 (FT)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NDCG@5 (Base)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NDCG@5 (FT)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590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inline_broad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61.31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69.11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49.50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55.72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37.02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51.48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33.28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47.33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68289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inline_specific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75.97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77.71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61.26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69.48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44.30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62.76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39.80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60.35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57055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author_broad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74.29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77.14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51.43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62.86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43.23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57.14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36.65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53.33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18344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author_specific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85.31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87.68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73.93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80.57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52.54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74.62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49.05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72.41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2675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0" dirty="0"/>
                        <a:t>Overall Avg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0" dirty="0"/>
                        <a:t>76.23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79.47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0" dirty="0"/>
                        <a:t>62.80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70.25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0" dirty="0"/>
                        <a:t>45.68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64.36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0" dirty="0"/>
                        <a:t>41.57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61.58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29646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374977D-B76E-0EC5-D6CD-C80BDB0A3DDE}"/>
              </a:ext>
            </a:extLst>
          </p:cNvPr>
          <p:cNvSpPr txBox="1"/>
          <p:nvPr/>
        </p:nvSpPr>
        <p:spPr>
          <a:xfrm>
            <a:off x="5687928" y="3999548"/>
            <a:ext cx="8161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K = 100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E1AFA3B-57DC-FE4E-4797-40FB44B839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7621632"/>
              </p:ext>
            </p:extLst>
          </p:nvPr>
        </p:nvGraphicFramePr>
        <p:xfrm>
          <a:off x="581192" y="4413980"/>
          <a:ext cx="11029950" cy="1722120"/>
        </p:xfrm>
        <a:graphic>
          <a:graphicData uri="http://schemas.openxmlformats.org/drawingml/2006/table">
            <a:tbl>
              <a:tblPr/>
              <a:tblGrid>
                <a:gridCol w="1225550">
                  <a:extLst>
                    <a:ext uri="{9D8B030D-6E8A-4147-A177-3AD203B41FA5}">
                      <a16:colId xmlns:a16="http://schemas.microsoft.com/office/drawing/2014/main" val="4238606892"/>
                    </a:ext>
                  </a:extLst>
                </a:gridCol>
                <a:gridCol w="1225550">
                  <a:extLst>
                    <a:ext uri="{9D8B030D-6E8A-4147-A177-3AD203B41FA5}">
                      <a16:colId xmlns:a16="http://schemas.microsoft.com/office/drawing/2014/main" val="1183056132"/>
                    </a:ext>
                  </a:extLst>
                </a:gridCol>
                <a:gridCol w="1225550">
                  <a:extLst>
                    <a:ext uri="{9D8B030D-6E8A-4147-A177-3AD203B41FA5}">
                      <a16:colId xmlns:a16="http://schemas.microsoft.com/office/drawing/2014/main" val="2078601016"/>
                    </a:ext>
                  </a:extLst>
                </a:gridCol>
                <a:gridCol w="1225550">
                  <a:extLst>
                    <a:ext uri="{9D8B030D-6E8A-4147-A177-3AD203B41FA5}">
                      <a16:colId xmlns:a16="http://schemas.microsoft.com/office/drawing/2014/main" val="4088979340"/>
                    </a:ext>
                  </a:extLst>
                </a:gridCol>
                <a:gridCol w="1225550">
                  <a:extLst>
                    <a:ext uri="{9D8B030D-6E8A-4147-A177-3AD203B41FA5}">
                      <a16:colId xmlns:a16="http://schemas.microsoft.com/office/drawing/2014/main" val="408919007"/>
                    </a:ext>
                  </a:extLst>
                </a:gridCol>
                <a:gridCol w="1225550">
                  <a:extLst>
                    <a:ext uri="{9D8B030D-6E8A-4147-A177-3AD203B41FA5}">
                      <a16:colId xmlns:a16="http://schemas.microsoft.com/office/drawing/2014/main" val="2127738698"/>
                    </a:ext>
                  </a:extLst>
                </a:gridCol>
                <a:gridCol w="1225550">
                  <a:extLst>
                    <a:ext uri="{9D8B030D-6E8A-4147-A177-3AD203B41FA5}">
                      <a16:colId xmlns:a16="http://schemas.microsoft.com/office/drawing/2014/main" val="3571988833"/>
                    </a:ext>
                  </a:extLst>
                </a:gridCol>
                <a:gridCol w="1225550">
                  <a:extLst>
                    <a:ext uri="{9D8B030D-6E8A-4147-A177-3AD203B41FA5}">
                      <a16:colId xmlns:a16="http://schemas.microsoft.com/office/drawing/2014/main" val="1586259239"/>
                    </a:ext>
                  </a:extLst>
                </a:gridCol>
                <a:gridCol w="1225550">
                  <a:extLst>
                    <a:ext uri="{9D8B030D-6E8A-4147-A177-3AD203B41FA5}">
                      <a16:colId xmlns:a16="http://schemas.microsoft.com/office/drawing/2014/main" val="36917865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Category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R@20 (Base)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R@20 (FT)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R@5 (Base)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R@5 (FT)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NDCG@20 (Base)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NDCG@20 (FT)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NDCG@5 (Base)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NDCG@5 (FT)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07139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inline_broad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69.25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69.25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40.56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51.42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36.26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50.32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28.38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44.81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05597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inline_specific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80.30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80.30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49.35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69.05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43.71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63.95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35.31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60.51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40849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author_broad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71.43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71.43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42.86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57.14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35.83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54.42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28.65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50.10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43496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author_specific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88.63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88.63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58.77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80.09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51.67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75.72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43.94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73.09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93939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0" dirty="0"/>
                        <a:t>Overall Avg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0" dirty="0"/>
                        <a:t>80.50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0" dirty="0"/>
                        <a:t>80.50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0" dirty="0"/>
                        <a:t>50.53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68.71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0" dirty="0"/>
                        <a:t>44.56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64.81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0" dirty="0"/>
                        <a:t>36.58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61.19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968530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B7763AE-D01C-922E-501E-FB674031B9FB}"/>
              </a:ext>
            </a:extLst>
          </p:cNvPr>
          <p:cNvSpPr txBox="1"/>
          <p:nvPr/>
        </p:nvSpPr>
        <p:spPr>
          <a:xfrm>
            <a:off x="5687928" y="6155844"/>
            <a:ext cx="8161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K = 20</a:t>
            </a:r>
          </a:p>
        </p:txBody>
      </p:sp>
    </p:spTree>
    <p:extLst>
      <p:ext uri="{BB962C8B-B14F-4D97-AF65-F5344CB8AC3E}">
        <p14:creationId xmlns:p14="http://schemas.microsoft.com/office/powerpoint/2010/main" val="11502294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38509-453F-9AB9-63AA-4EDA3CFD8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77530-7966-99D0-3C72-FA8DC8551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(GEMMA-3 12B)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45CB45-2DB6-8738-38D0-BA3622D5C1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62996"/>
            <a:ext cx="11029615" cy="3678303"/>
          </a:xfrm>
        </p:spPr>
        <p:txBody>
          <a:bodyPr anchor="t"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QWEN3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60BE6BE-5F28-C8EC-A70A-45EDEEE739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1381793"/>
              </p:ext>
            </p:extLst>
          </p:nvPr>
        </p:nvGraphicFramePr>
        <p:xfrm>
          <a:off x="581192" y="2277428"/>
          <a:ext cx="11029950" cy="1722120"/>
        </p:xfrm>
        <a:graphic>
          <a:graphicData uri="http://schemas.openxmlformats.org/drawingml/2006/table">
            <a:tbl>
              <a:tblPr/>
              <a:tblGrid>
                <a:gridCol w="1225550">
                  <a:extLst>
                    <a:ext uri="{9D8B030D-6E8A-4147-A177-3AD203B41FA5}">
                      <a16:colId xmlns:a16="http://schemas.microsoft.com/office/drawing/2014/main" val="613713579"/>
                    </a:ext>
                  </a:extLst>
                </a:gridCol>
                <a:gridCol w="1225550">
                  <a:extLst>
                    <a:ext uri="{9D8B030D-6E8A-4147-A177-3AD203B41FA5}">
                      <a16:colId xmlns:a16="http://schemas.microsoft.com/office/drawing/2014/main" val="785068"/>
                    </a:ext>
                  </a:extLst>
                </a:gridCol>
                <a:gridCol w="1225550">
                  <a:extLst>
                    <a:ext uri="{9D8B030D-6E8A-4147-A177-3AD203B41FA5}">
                      <a16:colId xmlns:a16="http://schemas.microsoft.com/office/drawing/2014/main" val="1716804745"/>
                    </a:ext>
                  </a:extLst>
                </a:gridCol>
                <a:gridCol w="1225550">
                  <a:extLst>
                    <a:ext uri="{9D8B030D-6E8A-4147-A177-3AD203B41FA5}">
                      <a16:colId xmlns:a16="http://schemas.microsoft.com/office/drawing/2014/main" val="741888464"/>
                    </a:ext>
                  </a:extLst>
                </a:gridCol>
                <a:gridCol w="1225550">
                  <a:extLst>
                    <a:ext uri="{9D8B030D-6E8A-4147-A177-3AD203B41FA5}">
                      <a16:colId xmlns:a16="http://schemas.microsoft.com/office/drawing/2014/main" val="3077266658"/>
                    </a:ext>
                  </a:extLst>
                </a:gridCol>
                <a:gridCol w="1225550">
                  <a:extLst>
                    <a:ext uri="{9D8B030D-6E8A-4147-A177-3AD203B41FA5}">
                      <a16:colId xmlns:a16="http://schemas.microsoft.com/office/drawing/2014/main" val="139181809"/>
                    </a:ext>
                  </a:extLst>
                </a:gridCol>
                <a:gridCol w="1225550">
                  <a:extLst>
                    <a:ext uri="{9D8B030D-6E8A-4147-A177-3AD203B41FA5}">
                      <a16:colId xmlns:a16="http://schemas.microsoft.com/office/drawing/2014/main" val="1762566407"/>
                    </a:ext>
                  </a:extLst>
                </a:gridCol>
                <a:gridCol w="1225550">
                  <a:extLst>
                    <a:ext uri="{9D8B030D-6E8A-4147-A177-3AD203B41FA5}">
                      <a16:colId xmlns:a16="http://schemas.microsoft.com/office/drawing/2014/main" val="3310111488"/>
                    </a:ext>
                  </a:extLst>
                </a:gridCol>
                <a:gridCol w="1225550">
                  <a:extLst>
                    <a:ext uri="{9D8B030D-6E8A-4147-A177-3AD203B41FA5}">
                      <a16:colId xmlns:a16="http://schemas.microsoft.com/office/drawing/2014/main" val="2187914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Category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R@20 (Base)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R@20 (FT)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R@5 (Base)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R@5 (FT)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NDCG@20 (Base)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NDCG@20 (FT)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NDCG@5 (Base)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NDCG@5 (FT)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590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inline_broad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67.44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67.03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55.03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56.56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47.46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52.51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43.67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49.32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68289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inline_specific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77.27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73.81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70.35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67.32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61.69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0" dirty="0"/>
                        <a:t>61.16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59.54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59.14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57055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author_broad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68.57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68.57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62.86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57.14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51.56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55.00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50.17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51.50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18344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author_specific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85.31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87.20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77.73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83.89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69.70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76.98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67.27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76.02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2675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0" dirty="0"/>
                        <a:t>Overall Avg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77.63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0" dirty="0"/>
                        <a:t>76.87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0" dirty="0"/>
                        <a:t>69.44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70.41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0" dirty="0"/>
                        <a:t>61.07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64.65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0" dirty="0"/>
                        <a:t>58.53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62.68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29646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6CB3C6A-6E7A-E79E-FE1A-8FE6EE200E55}"/>
              </a:ext>
            </a:extLst>
          </p:cNvPr>
          <p:cNvSpPr txBox="1"/>
          <p:nvPr/>
        </p:nvSpPr>
        <p:spPr>
          <a:xfrm>
            <a:off x="5687928" y="3999548"/>
            <a:ext cx="8161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K = 100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831CB2E-41C1-9FCB-2910-C1191ABC8F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8273723"/>
              </p:ext>
            </p:extLst>
          </p:nvPr>
        </p:nvGraphicFramePr>
        <p:xfrm>
          <a:off x="581192" y="4413980"/>
          <a:ext cx="11029950" cy="1722120"/>
        </p:xfrm>
        <a:graphic>
          <a:graphicData uri="http://schemas.openxmlformats.org/drawingml/2006/table">
            <a:tbl>
              <a:tblPr/>
              <a:tblGrid>
                <a:gridCol w="1225550">
                  <a:extLst>
                    <a:ext uri="{9D8B030D-6E8A-4147-A177-3AD203B41FA5}">
                      <a16:colId xmlns:a16="http://schemas.microsoft.com/office/drawing/2014/main" val="4238606892"/>
                    </a:ext>
                  </a:extLst>
                </a:gridCol>
                <a:gridCol w="1225550">
                  <a:extLst>
                    <a:ext uri="{9D8B030D-6E8A-4147-A177-3AD203B41FA5}">
                      <a16:colId xmlns:a16="http://schemas.microsoft.com/office/drawing/2014/main" val="1183056132"/>
                    </a:ext>
                  </a:extLst>
                </a:gridCol>
                <a:gridCol w="1225550">
                  <a:extLst>
                    <a:ext uri="{9D8B030D-6E8A-4147-A177-3AD203B41FA5}">
                      <a16:colId xmlns:a16="http://schemas.microsoft.com/office/drawing/2014/main" val="2078601016"/>
                    </a:ext>
                  </a:extLst>
                </a:gridCol>
                <a:gridCol w="1225550">
                  <a:extLst>
                    <a:ext uri="{9D8B030D-6E8A-4147-A177-3AD203B41FA5}">
                      <a16:colId xmlns:a16="http://schemas.microsoft.com/office/drawing/2014/main" val="4088979340"/>
                    </a:ext>
                  </a:extLst>
                </a:gridCol>
                <a:gridCol w="1225550">
                  <a:extLst>
                    <a:ext uri="{9D8B030D-6E8A-4147-A177-3AD203B41FA5}">
                      <a16:colId xmlns:a16="http://schemas.microsoft.com/office/drawing/2014/main" val="408919007"/>
                    </a:ext>
                  </a:extLst>
                </a:gridCol>
                <a:gridCol w="1225550">
                  <a:extLst>
                    <a:ext uri="{9D8B030D-6E8A-4147-A177-3AD203B41FA5}">
                      <a16:colId xmlns:a16="http://schemas.microsoft.com/office/drawing/2014/main" val="2127738698"/>
                    </a:ext>
                  </a:extLst>
                </a:gridCol>
                <a:gridCol w="1225550">
                  <a:extLst>
                    <a:ext uri="{9D8B030D-6E8A-4147-A177-3AD203B41FA5}">
                      <a16:colId xmlns:a16="http://schemas.microsoft.com/office/drawing/2014/main" val="3571988833"/>
                    </a:ext>
                  </a:extLst>
                </a:gridCol>
                <a:gridCol w="1225550">
                  <a:extLst>
                    <a:ext uri="{9D8B030D-6E8A-4147-A177-3AD203B41FA5}">
                      <a16:colId xmlns:a16="http://schemas.microsoft.com/office/drawing/2014/main" val="1586259239"/>
                    </a:ext>
                  </a:extLst>
                </a:gridCol>
                <a:gridCol w="1225550">
                  <a:extLst>
                    <a:ext uri="{9D8B030D-6E8A-4147-A177-3AD203B41FA5}">
                      <a16:colId xmlns:a16="http://schemas.microsoft.com/office/drawing/2014/main" val="36917865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Category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R@20 (Base)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R@20 (FT)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R@5 (Base)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R@5 (FT)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NDCG@20 (Base)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NDCG@20 (FT)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NDCG@5 (Base)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NDCG@5 (FT)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07139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inline_broad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69.25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69.25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52.25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56.14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45.29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52.65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39.91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48.71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05597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inline_specific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80.30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80.30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68.18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69.05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57.98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63.22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54.49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59.77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40849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author_broad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71.43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71.43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57.14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65.71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43.91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59.26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39.52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57.58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43496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author_specific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88.63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88.63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75.83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85.31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67.09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79.06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63.48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78.05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93939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0" dirty="0"/>
                        <a:t>Overall Avg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0" dirty="0"/>
                        <a:t>80.50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0" dirty="0"/>
                        <a:t>80.50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0"/>
                        <a:t>67.04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72.00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0" dirty="0"/>
                        <a:t>57.82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66.46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0" dirty="0"/>
                        <a:t>53.86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63.88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968530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9A87C05-A2C2-90F2-6D14-58F9FF27ACC4}"/>
              </a:ext>
            </a:extLst>
          </p:cNvPr>
          <p:cNvSpPr txBox="1"/>
          <p:nvPr/>
        </p:nvSpPr>
        <p:spPr>
          <a:xfrm>
            <a:off x="5687928" y="6155844"/>
            <a:ext cx="8161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K = 20</a:t>
            </a:r>
          </a:p>
        </p:txBody>
      </p:sp>
    </p:spTree>
    <p:extLst>
      <p:ext uri="{BB962C8B-B14F-4D97-AF65-F5344CB8AC3E}">
        <p14:creationId xmlns:p14="http://schemas.microsoft.com/office/powerpoint/2010/main" val="178877165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56390039_win32_fixed.potx" id="{08D75CB0-AD9B-4834-8559-901094BB0ABE}" vid="{3B3EDB20-B381-4B6C-99AC-7C5CDA2B40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791575F-4C21-47C4-8D13-EB9BE66B536F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792209EB-3212-4116-B574-D1F56C7C492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42D3C2F-55A5-48C0-9D5A-95C7FF0389D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design</Template>
  <TotalTime>486</TotalTime>
  <Words>1384</Words>
  <Application>Microsoft Office PowerPoint</Application>
  <PresentationFormat>Widescreen</PresentationFormat>
  <Paragraphs>595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Calibri</vt:lpstr>
      <vt:lpstr>Courier New</vt:lpstr>
      <vt:lpstr>Gill Sans MT</vt:lpstr>
      <vt:lpstr>Wingdings 2</vt:lpstr>
      <vt:lpstr>Custom</vt:lpstr>
      <vt:lpstr>Scientific Papers Reranker</vt:lpstr>
      <vt:lpstr>Goal</vt:lpstr>
      <vt:lpstr>LITSEARCH</vt:lpstr>
      <vt:lpstr>Dataset creation</vt:lpstr>
      <vt:lpstr>Dataset creation</vt:lpstr>
      <vt:lpstr>Finetuning</vt:lpstr>
      <vt:lpstr>PowerPoint Presentation</vt:lpstr>
      <vt:lpstr>Results (GEMMA-3 4B)</vt:lpstr>
      <vt:lpstr>Results (GEMMA-3 4B)</vt:lpstr>
      <vt:lpstr>Results (GEMMA-3 4B)</vt:lpstr>
      <vt:lpstr>Results (GEMMA-3 4B)</vt:lpstr>
      <vt:lpstr>Results (GEMMA-3 12B)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Andrei-Răzvan Joldea</dc:creator>
  <cp:lastModifiedBy>Andrei-Răzvan Joldea</cp:lastModifiedBy>
  <cp:revision>27</cp:revision>
  <dcterms:created xsi:type="dcterms:W3CDTF">2025-12-14T20:31:19Z</dcterms:created>
  <dcterms:modified xsi:type="dcterms:W3CDTF">2025-12-16T22:28:22Z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